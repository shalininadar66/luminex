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hunk Five" charset="1" panose="00000500000000000000"/>
      <p:regular r:id="rId16"/>
    </p:embeddedFont>
    <p:embeddedFont>
      <p:font typeface="Sarabun Bold" charset="1" panose="00000800000000000000"/>
      <p:regular r:id="rId17"/>
    </p:embeddedFont>
    <p:embeddedFont>
      <p:font typeface="Bisdak" charset="1" panose="00000400000000000000"/>
      <p:regular r:id="rId18"/>
    </p:embeddedFont>
    <p:embeddedFont>
      <p:font typeface="Sarabu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5006265" y="-2345382"/>
            <a:ext cx="8275470" cy="9757183"/>
            <a:chOff x="0" y="0"/>
            <a:chExt cx="2179548" cy="25697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9548" cy="2569793"/>
            </a:xfrm>
            <a:custGeom>
              <a:avLst/>
              <a:gdLst/>
              <a:ahLst/>
              <a:cxnLst/>
              <a:rect r="r" b="b" t="t" l="l"/>
              <a:pathLst>
                <a:path h="2569793" w="2179548">
                  <a:moveTo>
                    <a:pt x="47712" y="0"/>
                  </a:moveTo>
                  <a:lnTo>
                    <a:pt x="2131836" y="0"/>
                  </a:lnTo>
                  <a:cubicBezTo>
                    <a:pt x="2144490" y="0"/>
                    <a:pt x="2156625" y="5027"/>
                    <a:pt x="2165573" y="13974"/>
                  </a:cubicBezTo>
                  <a:cubicBezTo>
                    <a:pt x="2174521" y="22922"/>
                    <a:pt x="2179548" y="35058"/>
                    <a:pt x="2179548" y="47712"/>
                  </a:cubicBezTo>
                  <a:lnTo>
                    <a:pt x="2179548" y="2522081"/>
                  </a:lnTo>
                  <a:cubicBezTo>
                    <a:pt x="2179548" y="2534735"/>
                    <a:pt x="2174521" y="2546871"/>
                    <a:pt x="2165573" y="2555819"/>
                  </a:cubicBezTo>
                  <a:cubicBezTo>
                    <a:pt x="2156625" y="2564766"/>
                    <a:pt x="2144490" y="2569793"/>
                    <a:pt x="2131836" y="2569793"/>
                  </a:cubicBezTo>
                  <a:lnTo>
                    <a:pt x="47712" y="2569793"/>
                  </a:lnTo>
                  <a:cubicBezTo>
                    <a:pt x="35058" y="2569793"/>
                    <a:pt x="22922" y="2564766"/>
                    <a:pt x="13974" y="2555819"/>
                  </a:cubicBezTo>
                  <a:cubicBezTo>
                    <a:pt x="5027" y="2546871"/>
                    <a:pt x="0" y="2534735"/>
                    <a:pt x="0" y="2522081"/>
                  </a:cubicBezTo>
                  <a:lnTo>
                    <a:pt x="0" y="47712"/>
                  </a:lnTo>
                  <a:cubicBezTo>
                    <a:pt x="0" y="35058"/>
                    <a:pt x="5027" y="22922"/>
                    <a:pt x="13974" y="13974"/>
                  </a:cubicBezTo>
                  <a:cubicBezTo>
                    <a:pt x="22922" y="5027"/>
                    <a:pt x="35058" y="0"/>
                    <a:pt x="47712" y="0"/>
                  </a:cubicBezTo>
                  <a:close/>
                </a:path>
              </a:pathLst>
            </a:custGeom>
            <a:solidFill>
              <a:srgbClr val="002566">
                <a:alpha val="2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9548" cy="259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7138740" y="-3174000"/>
            <a:ext cx="10629179" cy="13177170"/>
            <a:chOff x="0" y="0"/>
            <a:chExt cx="2799455" cy="3470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9455" cy="3470530"/>
            </a:xfrm>
            <a:custGeom>
              <a:avLst/>
              <a:gdLst/>
              <a:ahLst/>
              <a:cxnLst/>
              <a:rect r="r" b="b" t="t" l="l"/>
              <a:pathLst>
                <a:path h="3470530" w="2799455">
                  <a:moveTo>
                    <a:pt x="37147" y="0"/>
                  </a:moveTo>
                  <a:lnTo>
                    <a:pt x="2762308" y="0"/>
                  </a:lnTo>
                  <a:cubicBezTo>
                    <a:pt x="2782824" y="0"/>
                    <a:pt x="2799455" y="16631"/>
                    <a:pt x="2799455" y="37147"/>
                  </a:cubicBezTo>
                  <a:lnTo>
                    <a:pt x="2799455" y="3433384"/>
                  </a:lnTo>
                  <a:cubicBezTo>
                    <a:pt x="2799455" y="3443236"/>
                    <a:pt x="2795541" y="3452684"/>
                    <a:pt x="2788575" y="3459650"/>
                  </a:cubicBezTo>
                  <a:cubicBezTo>
                    <a:pt x="2781608" y="3466617"/>
                    <a:pt x="2772160" y="3470530"/>
                    <a:pt x="2762308" y="3470530"/>
                  </a:cubicBezTo>
                  <a:lnTo>
                    <a:pt x="37147" y="3470530"/>
                  </a:lnTo>
                  <a:cubicBezTo>
                    <a:pt x="27295" y="3470530"/>
                    <a:pt x="17846" y="3466617"/>
                    <a:pt x="10880" y="3459650"/>
                  </a:cubicBezTo>
                  <a:cubicBezTo>
                    <a:pt x="3914" y="3452684"/>
                    <a:pt x="0" y="3443236"/>
                    <a:pt x="0" y="3433384"/>
                  </a:cubicBezTo>
                  <a:lnTo>
                    <a:pt x="0" y="37147"/>
                  </a:lnTo>
                  <a:cubicBezTo>
                    <a:pt x="0" y="27295"/>
                    <a:pt x="3914" y="17846"/>
                    <a:pt x="10880" y="10880"/>
                  </a:cubicBezTo>
                  <a:cubicBezTo>
                    <a:pt x="17846" y="3914"/>
                    <a:pt x="27295" y="0"/>
                    <a:pt x="37147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99455" cy="349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-6160823" y="1274181"/>
            <a:ext cx="10629179" cy="11637912"/>
            <a:chOff x="0" y="0"/>
            <a:chExt cx="2799455" cy="30651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9455" cy="3065129"/>
            </a:xfrm>
            <a:custGeom>
              <a:avLst/>
              <a:gdLst/>
              <a:ahLst/>
              <a:cxnLst/>
              <a:rect r="r" b="b" t="t" l="l"/>
              <a:pathLst>
                <a:path h="3065129" w="2799455">
                  <a:moveTo>
                    <a:pt x="37147" y="0"/>
                  </a:moveTo>
                  <a:lnTo>
                    <a:pt x="2762308" y="0"/>
                  </a:lnTo>
                  <a:cubicBezTo>
                    <a:pt x="2782824" y="0"/>
                    <a:pt x="2799455" y="16631"/>
                    <a:pt x="2799455" y="37147"/>
                  </a:cubicBezTo>
                  <a:lnTo>
                    <a:pt x="2799455" y="3027983"/>
                  </a:lnTo>
                  <a:cubicBezTo>
                    <a:pt x="2799455" y="3037835"/>
                    <a:pt x="2795541" y="3047283"/>
                    <a:pt x="2788575" y="3054249"/>
                  </a:cubicBezTo>
                  <a:cubicBezTo>
                    <a:pt x="2781608" y="3061215"/>
                    <a:pt x="2772160" y="3065129"/>
                    <a:pt x="2762308" y="3065129"/>
                  </a:cubicBezTo>
                  <a:lnTo>
                    <a:pt x="37147" y="3065129"/>
                  </a:lnTo>
                  <a:cubicBezTo>
                    <a:pt x="27295" y="3065129"/>
                    <a:pt x="17846" y="3061215"/>
                    <a:pt x="10880" y="3054249"/>
                  </a:cubicBezTo>
                  <a:cubicBezTo>
                    <a:pt x="3914" y="3047283"/>
                    <a:pt x="0" y="3037835"/>
                    <a:pt x="0" y="3027983"/>
                  </a:cubicBezTo>
                  <a:lnTo>
                    <a:pt x="0" y="37147"/>
                  </a:lnTo>
                  <a:cubicBezTo>
                    <a:pt x="0" y="27295"/>
                    <a:pt x="3914" y="17846"/>
                    <a:pt x="10880" y="10880"/>
                  </a:cubicBezTo>
                  <a:cubicBezTo>
                    <a:pt x="17846" y="3914"/>
                    <a:pt x="27295" y="0"/>
                    <a:pt x="37147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799455" cy="309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28980" y="-1395412"/>
            <a:ext cx="11565964" cy="1156596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566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-4517835" y="1471899"/>
            <a:ext cx="7343202" cy="734320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566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-4173191" y="3421536"/>
            <a:ext cx="7343202" cy="734320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566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258221" y="9056895"/>
            <a:ext cx="2029779" cy="1230105"/>
          </a:xfrm>
          <a:custGeom>
            <a:avLst/>
            <a:gdLst/>
            <a:ahLst/>
            <a:cxnLst/>
            <a:rect r="r" b="b" t="t" l="l"/>
            <a:pathLst>
              <a:path h="1230105" w="2029779">
                <a:moveTo>
                  <a:pt x="0" y="0"/>
                </a:moveTo>
                <a:lnTo>
                  <a:pt x="2029779" y="0"/>
                </a:lnTo>
                <a:lnTo>
                  <a:pt x="2029779" y="1230105"/>
                </a:lnTo>
                <a:lnTo>
                  <a:pt x="0" y="1230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4" t="0" r="-130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93198" y="3280831"/>
            <a:ext cx="10372432" cy="186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208"/>
              </a:lnSpc>
            </a:pPr>
            <a:r>
              <a:rPr lang="en-US" sz="12208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LUMINEX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93198" y="4934267"/>
            <a:ext cx="10794802" cy="114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                 A smart gap analysis that evaluates resumes for         educational upskilling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6988362"/>
            <a:ext cx="6750343" cy="194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FFFF"/>
                </a:solidFill>
                <a:latin typeface="Bisdak"/>
                <a:ea typeface="Bisdak"/>
                <a:cs typeface="Bisdak"/>
                <a:sym typeface="Bisdak"/>
              </a:rPr>
              <a:t>Parallax core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09653" y="7026462"/>
            <a:ext cx="7004620" cy="67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b="true" sz="3980">
                <a:solidFill>
                  <a:srgbClr val="9A9EA3"/>
                </a:solidFill>
                <a:latin typeface="Sarabun Bold"/>
                <a:ea typeface="Sarabun Bold"/>
                <a:cs typeface="Sarabun Bold"/>
                <a:sym typeface="Sarabun Bold"/>
              </a:rPr>
              <a:t>SY.Bsc.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302" y="-390053"/>
            <a:ext cx="8649698" cy="9917754"/>
            <a:chOff x="0" y="0"/>
            <a:chExt cx="2278110" cy="2612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8110" cy="2612083"/>
            </a:xfrm>
            <a:custGeom>
              <a:avLst/>
              <a:gdLst/>
              <a:ahLst/>
              <a:cxnLst/>
              <a:rect r="r" b="b" t="t" l="l"/>
              <a:pathLst>
                <a:path h="2612083" w="2278110">
                  <a:moveTo>
                    <a:pt x="45648" y="0"/>
                  </a:moveTo>
                  <a:lnTo>
                    <a:pt x="2232462" y="0"/>
                  </a:lnTo>
                  <a:cubicBezTo>
                    <a:pt x="2257673" y="0"/>
                    <a:pt x="2278110" y="20437"/>
                    <a:pt x="2278110" y="45648"/>
                  </a:cubicBezTo>
                  <a:lnTo>
                    <a:pt x="2278110" y="2566436"/>
                  </a:lnTo>
                  <a:cubicBezTo>
                    <a:pt x="2278110" y="2578542"/>
                    <a:pt x="2273301" y="2590153"/>
                    <a:pt x="2264740" y="2598713"/>
                  </a:cubicBezTo>
                  <a:cubicBezTo>
                    <a:pt x="2256179" y="2607274"/>
                    <a:pt x="2244569" y="2612083"/>
                    <a:pt x="2232462" y="2612083"/>
                  </a:cubicBezTo>
                  <a:lnTo>
                    <a:pt x="45648" y="2612083"/>
                  </a:lnTo>
                  <a:cubicBezTo>
                    <a:pt x="33541" y="2612083"/>
                    <a:pt x="21930" y="2607274"/>
                    <a:pt x="13370" y="2598713"/>
                  </a:cubicBezTo>
                  <a:cubicBezTo>
                    <a:pt x="4809" y="2590153"/>
                    <a:pt x="0" y="2578542"/>
                    <a:pt x="0" y="2566436"/>
                  </a:cubicBezTo>
                  <a:lnTo>
                    <a:pt x="0" y="45648"/>
                  </a:lnTo>
                  <a:cubicBezTo>
                    <a:pt x="0" y="33541"/>
                    <a:pt x="4809" y="21930"/>
                    <a:pt x="13370" y="13370"/>
                  </a:cubicBezTo>
                  <a:cubicBezTo>
                    <a:pt x="21930" y="4809"/>
                    <a:pt x="33541" y="0"/>
                    <a:pt x="45648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78110" cy="264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22035" y="-231216"/>
            <a:ext cx="2988574" cy="2282184"/>
          </a:xfrm>
          <a:custGeom>
            <a:avLst/>
            <a:gdLst/>
            <a:ahLst/>
            <a:cxnLst/>
            <a:rect r="r" b="b" t="t" l="l"/>
            <a:pathLst>
              <a:path h="2282184" w="2988574">
                <a:moveTo>
                  <a:pt x="0" y="0"/>
                </a:moveTo>
                <a:lnTo>
                  <a:pt x="2988574" y="0"/>
                </a:lnTo>
                <a:lnTo>
                  <a:pt x="2988574" y="2282184"/>
                </a:lnTo>
                <a:lnTo>
                  <a:pt x="0" y="2282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46457" y="1945005"/>
            <a:ext cx="8226155" cy="4957624"/>
          </a:xfrm>
          <a:custGeom>
            <a:avLst/>
            <a:gdLst/>
            <a:ahLst/>
            <a:cxnLst/>
            <a:rect r="r" b="b" t="t" l="l"/>
            <a:pathLst>
              <a:path h="4957624" w="8226155">
                <a:moveTo>
                  <a:pt x="0" y="0"/>
                </a:moveTo>
                <a:lnTo>
                  <a:pt x="8226154" y="0"/>
                </a:lnTo>
                <a:lnTo>
                  <a:pt x="8226154" y="4957624"/>
                </a:lnTo>
                <a:lnTo>
                  <a:pt x="0" y="4957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34" t="0" r="-463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56922" y="6902629"/>
            <a:ext cx="5215689" cy="2712158"/>
          </a:xfrm>
          <a:custGeom>
            <a:avLst/>
            <a:gdLst/>
            <a:ahLst/>
            <a:cxnLst/>
            <a:rect r="r" b="b" t="t" l="l"/>
            <a:pathLst>
              <a:path h="2712158" w="5215689">
                <a:moveTo>
                  <a:pt x="0" y="0"/>
                </a:moveTo>
                <a:lnTo>
                  <a:pt x="5215689" y="0"/>
                </a:lnTo>
                <a:lnTo>
                  <a:pt x="5215689" y="2712159"/>
                </a:lnTo>
                <a:lnTo>
                  <a:pt x="0" y="2712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85386" y="1085850"/>
            <a:ext cx="6800683" cy="17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b="true" sz="62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PROBLEM 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5386" y="4129178"/>
            <a:ext cx="5953371" cy="437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IN THE EDUCATION AND TRAINING DOMAIN, LEARNERS OFTEN LACK CLARITY ABOUT THE SKILLS THEY NEED TO ACQUIRE FOR SPECIFIC ROLES LEADING TO POOR CAREER ALIGNMENT AND INEFFECTIVE TRAINING CHOICES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6313" y="-140317"/>
            <a:ext cx="19174567" cy="4528514"/>
            <a:chOff x="0" y="0"/>
            <a:chExt cx="5050092" cy="11926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0092" cy="1192695"/>
            </a:xfrm>
            <a:custGeom>
              <a:avLst/>
              <a:gdLst/>
              <a:ahLst/>
              <a:cxnLst/>
              <a:rect r="r" b="b" t="t" l="l"/>
              <a:pathLst>
                <a:path h="1192695" w="5050092">
                  <a:moveTo>
                    <a:pt x="20592" y="0"/>
                  </a:moveTo>
                  <a:lnTo>
                    <a:pt x="5029500" y="0"/>
                  </a:lnTo>
                  <a:cubicBezTo>
                    <a:pt x="5034961" y="0"/>
                    <a:pt x="5040199" y="2169"/>
                    <a:pt x="5044061" y="6031"/>
                  </a:cubicBezTo>
                  <a:cubicBezTo>
                    <a:pt x="5047922" y="9893"/>
                    <a:pt x="5050092" y="15130"/>
                    <a:pt x="5050092" y="20592"/>
                  </a:cubicBezTo>
                  <a:lnTo>
                    <a:pt x="5050092" y="1172103"/>
                  </a:lnTo>
                  <a:cubicBezTo>
                    <a:pt x="5050092" y="1177565"/>
                    <a:pt x="5047922" y="1182802"/>
                    <a:pt x="5044061" y="1186664"/>
                  </a:cubicBezTo>
                  <a:cubicBezTo>
                    <a:pt x="5040199" y="1190526"/>
                    <a:pt x="5034961" y="1192695"/>
                    <a:pt x="5029500" y="1192695"/>
                  </a:cubicBezTo>
                  <a:lnTo>
                    <a:pt x="20592" y="1192695"/>
                  </a:lnTo>
                  <a:cubicBezTo>
                    <a:pt x="15130" y="1192695"/>
                    <a:pt x="9893" y="1190526"/>
                    <a:pt x="6031" y="1186664"/>
                  </a:cubicBezTo>
                  <a:cubicBezTo>
                    <a:pt x="2169" y="1182802"/>
                    <a:pt x="0" y="1177565"/>
                    <a:pt x="0" y="1172103"/>
                  </a:cubicBezTo>
                  <a:lnTo>
                    <a:pt x="0" y="20592"/>
                  </a:lnTo>
                  <a:cubicBezTo>
                    <a:pt x="0" y="15130"/>
                    <a:pt x="2169" y="9893"/>
                    <a:pt x="6031" y="6031"/>
                  </a:cubicBezTo>
                  <a:cubicBezTo>
                    <a:pt x="9893" y="2169"/>
                    <a:pt x="15130" y="0"/>
                    <a:pt x="20592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050092" cy="1221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76972" y="7934454"/>
            <a:ext cx="2145554" cy="3381246"/>
          </a:xfrm>
          <a:custGeom>
            <a:avLst/>
            <a:gdLst/>
            <a:ahLst/>
            <a:cxnLst/>
            <a:rect r="r" b="b" t="t" l="l"/>
            <a:pathLst>
              <a:path h="3381246" w="2145554">
                <a:moveTo>
                  <a:pt x="0" y="0"/>
                </a:moveTo>
                <a:lnTo>
                  <a:pt x="2145554" y="0"/>
                </a:lnTo>
                <a:lnTo>
                  <a:pt x="2145554" y="3381246"/>
                </a:lnTo>
                <a:lnTo>
                  <a:pt x="0" y="3381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95392" y="-289569"/>
            <a:ext cx="2453660" cy="2413509"/>
          </a:xfrm>
          <a:custGeom>
            <a:avLst/>
            <a:gdLst/>
            <a:ahLst/>
            <a:cxnLst/>
            <a:rect r="r" b="b" t="t" l="l"/>
            <a:pathLst>
              <a:path h="2413509" w="2453660">
                <a:moveTo>
                  <a:pt x="0" y="0"/>
                </a:moveTo>
                <a:lnTo>
                  <a:pt x="2453660" y="0"/>
                </a:lnTo>
                <a:lnTo>
                  <a:pt x="2453660" y="2413509"/>
                </a:lnTo>
                <a:lnTo>
                  <a:pt x="0" y="2413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8286" y="1670871"/>
            <a:ext cx="14171464" cy="97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4"/>
              </a:lnSpc>
            </a:pPr>
            <a:r>
              <a:rPr lang="en-US" b="true" sz="684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OUR SOLUTION : LUMINEX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370" y="4854923"/>
            <a:ext cx="5953371" cy="524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521" indent="-410260" lvl="1">
              <a:lnSpc>
                <a:spcPts val="4180"/>
              </a:lnSpc>
              <a:buFont typeface="Arial"/>
              <a:buChar char="•"/>
            </a:pPr>
            <a:r>
              <a:rPr lang="en-US" b="true" sz="3800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Beyond Screening:</a:t>
            </a:r>
            <a:r>
              <a:rPr lang="en-US" sz="3800">
                <a:solidFill>
                  <a:srgbClr val="002566"/>
                </a:solidFill>
                <a:latin typeface="Sarabun"/>
                <a:ea typeface="Sarabun"/>
                <a:cs typeface="Sarabun"/>
                <a:sym typeface="Sarabun"/>
              </a:rPr>
              <a:t> Unlike basic parsers, Luminex performs a “Gap Analysis”.</a:t>
            </a:r>
          </a:p>
          <a:p>
            <a:pPr algn="l">
              <a:lnSpc>
                <a:spcPts val="4180"/>
              </a:lnSpc>
            </a:pPr>
          </a:p>
          <a:p>
            <a:pPr algn="l" marL="820521" indent="-410260" lvl="1">
              <a:lnSpc>
                <a:spcPts val="4180"/>
              </a:lnSpc>
              <a:buFont typeface="Arial"/>
              <a:buChar char="•"/>
            </a:pPr>
            <a:r>
              <a:rPr lang="en-US" b="true" sz="3800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Innovative Core:</a:t>
            </a:r>
            <a:r>
              <a:rPr lang="en-US" sz="3800">
                <a:solidFill>
                  <a:srgbClr val="002566"/>
                </a:solidFill>
                <a:latin typeface="Sarabun"/>
                <a:ea typeface="Sarabun"/>
                <a:cs typeface="Sarabun"/>
                <a:sym typeface="Sarabun"/>
              </a:rPr>
              <a:t> Uses NLP to map resume entities against live industry job descriptions.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58871" y="4830790"/>
            <a:ext cx="5953371" cy="262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521" indent="-410260" lvl="1">
              <a:lnSpc>
                <a:spcPts val="4180"/>
              </a:lnSpc>
              <a:buFont typeface="Arial"/>
              <a:buChar char="•"/>
            </a:pPr>
            <a:r>
              <a:rPr lang="en-US" b="true" sz="3800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Actionable Feedback:</a:t>
            </a:r>
            <a:r>
              <a:rPr lang="en-US" sz="3800">
                <a:solidFill>
                  <a:srgbClr val="002566"/>
                </a:solidFill>
                <a:latin typeface="Sarabun"/>
                <a:ea typeface="Sarabun"/>
                <a:cs typeface="Sarabun"/>
                <a:sym typeface="Sarabun"/>
              </a:rPr>
              <a:t> Provides a “Roadmap To Employment” by suggesting specifice skills to acquire.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200946">
            <a:off x="-3415698" y="-1152283"/>
            <a:ext cx="12019375" cy="12893129"/>
            <a:chOff x="0" y="0"/>
            <a:chExt cx="2991969" cy="3209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1969" cy="3209471"/>
            </a:xfrm>
            <a:custGeom>
              <a:avLst/>
              <a:gdLst/>
              <a:ahLst/>
              <a:cxnLst/>
              <a:rect r="r" b="b" t="t" l="l"/>
              <a:pathLst>
                <a:path h="3209471" w="2991969">
                  <a:moveTo>
                    <a:pt x="32850" y="0"/>
                  </a:moveTo>
                  <a:lnTo>
                    <a:pt x="2959118" y="0"/>
                  </a:lnTo>
                  <a:cubicBezTo>
                    <a:pt x="2967831" y="0"/>
                    <a:pt x="2976186" y="3461"/>
                    <a:pt x="2982347" y="9622"/>
                  </a:cubicBezTo>
                  <a:cubicBezTo>
                    <a:pt x="2988508" y="15782"/>
                    <a:pt x="2991969" y="24138"/>
                    <a:pt x="2991969" y="32850"/>
                  </a:cubicBezTo>
                  <a:lnTo>
                    <a:pt x="2991969" y="3176621"/>
                  </a:lnTo>
                  <a:cubicBezTo>
                    <a:pt x="2991969" y="3185333"/>
                    <a:pt x="2988508" y="3193689"/>
                    <a:pt x="2982347" y="3199849"/>
                  </a:cubicBezTo>
                  <a:cubicBezTo>
                    <a:pt x="2976186" y="3206010"/>
                    <a:pt x="2967831" y="3209471"/>
                    <a:pt x="2959118" y="3209471"/>
                  </a:cubicBezTo>
                  <a:lnTo>
                    <a:pt x="32850" y="3209471"/>
                  </a:lnTo>
                  <a:cubicBezTo>
                    <a:pt x="14708" y="3209471"/>
                    <a:pt x="0" y="3194764"/>
                    <a:pt x="0" y="3176621"/>
                  </a:cubicBezTo>
                  <a:lnTo>
                    <a:pt x="0" y="32850"/>
                  </a:lnTo>
                  <a:cubicBezTo>
                    <a:pt x="0" y="24138"/>
                    <a:pt x="3461" y="15782"/>
                    <a:pt x="9622" y="9622"/>
                  </a:cubicBezTo>
                  <a:cubicBezTo>
                    <a:pt x="15782" y="3461"/>
                    <a:pt x="24138" y="0"/>
                    <a:pt x="32850" y="0"/>
                  </a:cubicBezTo>
                  <a:close/>
                </a:path>
              </a:pathLst>
            </a:custGeom>
            <a:solidFill>
              <a:srgbClr val="002566">
                <a:alpha val="1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91969" cy="323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200946">
            <a:off x="-2830406" y="-2631682"/>
            <a:ext cx="12019375" cy="12893129"/>
            <a:chOff x="0" y="0"/>
            <a:chExt cx="2991969" cy="3209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1969" cy="3209471"/>
            </a:xfrm>
            <a:custGeom>
              <a:avLst/>
              <a:gdLst/>
              <a:ahLst/>
              <a:cxnLst/>
              <a:rect r="r" b="b" t="t" l="l"/>
              <a:pathLst>
                <a:path h="3209471" w="2991969">
                  <a:moveTo>
                    <a:pt x="32850" y="0"/>
                  </a:moveTo>
                  <a:lnTo>
                    <a:pt x="2959118" y="0"/>
                  </a:lnTo>
                  <a:cubicBezTo>
                    <a:pt x="2967831" y="0"/>
                    <a:pt x="2976186" y="3461"/>
                    <a:pt x="2982347" y="9622"/>
                  </a:cubicBezTo>
                  <a:cubicBezTo>
                    <a:pt x="2988508" y="15782"/>
                    <a:pt x="2991969" y="24138"/>
                    <a:pt x="2991969" y="32850"/>
                  </a:cubicBezTo>
                  <a:lnTo>
                    <a:pt x="2991969" y="3176621"/>
                  </a:lnTo>
                  <a:cubicBezTo>
                    <a:pt x="2991969" y="3185333"/>
                    <a:pt x="2988508" y="3193689"/>
                    <a:pt x="2982347" y="3199849"/>
                  </a:cubicBezTo>
                  <a:cubicBezTo>
                    <a:pt x="2976186" y="3206010"/>
                    <a:pt x="2967831" y="3209471"/>
                    <a:pt x="2959118" y="3209471"/>
                  </a:cubicBezTo>
                  <a:lnTo>
                    <a:pt x="32850" y="3209471"/>
                  </a:lnTo>
                  <a:cubicBezTo>
                    <a:pt x="14708" y="3209471"/>
                    <a:pt x="0" y="3194764"/>
                    <a:pt x="0" y="3176621"/>
                  </a:cubicBezTo>
                  <a:lnTo>
                    <a:pt x="0" y="32850"/>
                  </a:lnTo>
                  <a:cubicBezTo>
                    <a:pt x="0" y="24138"/>
                    <a:pt x="3461" y="15782"/>
                    <a:pt x="9622" y="9622"/>
                  </a:cubicBezTo>
                  <a:cubicBezTo>
                    <a:pt x="15782" y="3461"/>
                    <a:pt x="24138" y="0"/>
                    <a:pt x="32850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991969" cy="323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79111" y="1977966"/>
            <a:ext cx="6407438" cy="6848850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614699" y="652053"/>
            <a:ext cx="828002" cy="2347429"/>
          </a:xfrm>
          <a:custGeom>
            <a:avLst/>
            <a:gdLst/>
            <a:ahLst/>
            <a:cxnLst/>
            <a:rect r="r" b="b" t="t" l="l"/>
            <a:pathLst>
              <a:path h="2347429" w="828002">
                <a:moveTo>
                  <a:pt x="0" y="0"/>
                </a:moveTo>
                <a:lnTo>
                  <a:pt x="828002" y="0"/>
                </a:lnTo>
                <a:lnTo>
                  <a:pt x="828002" y="2347429"/>
                </a:lnTo>
                <a:lnTo>
                  <a:pt x="0" y="2347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5386" y="1272347"/>
            <a:ext cx="6726444" cy="143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b="true" sz="510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TECHNICAL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0775" y="3434648"/>
            <a:ext cx="8399106" cy="482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538" indent="-343269" lvl="1">
              <a:lnSpc>
                <a:spcPts val="3497"/>
              </a:lnSpc>
              <a:buFont typeface="Arial"/>
              <a:buChar char="•"/>
            </a:pPr>
            <a:r>
              <a:rPr lang="en-US" sz="317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Technology Stack: Python, Spacy/NLTK (NLP), Scikit-learn (Classification), and Streamlit/React (Frontend).</a:t>
            </a:r>
          </a:p>
          <a:p>
            <a:pPr algn="l">
              <a:lnSpc>
                <a:spcPts val="3497"/>
              </a:lnSpc>
            </a:pPr>
          </a:p>
          <a:p>
            <a:pPr algn="l" marL="686538" indent="-343269" lvl="1">
              <a:lnSpc>
                <a:spcPts val="3497"/>
              </a:lnSpc>
              <a:buFont typeface="Arial"/>
              <a:buChar char="•"/>
            </a:pPr>
            <a:r>
              <a:rPr lang="en-US" sz="317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The Model: Explain your use of Named Entity Recognition (NER) to extract skills and Cosine Similarity to measure the gap.</a:t>
            </a:r>
          </a:p>
          <a:p>
            <a:pPr algn="l">
              <a:lnSpc>
                <a:spcPts val="3497"/>
              </a:lnSpc>
            </a:pPr>
          </a:p>
          <a:p>
            <a:pPr algn="l" marL="686538" indent="-343269" lvl="1">
              <a:lnSpc>
                <a:spcPts val="3497"/>
              </a:lnSpc>
              <a:buFont typeface="Arial"/>
              <a:buChar char="•"/>
            </a:pPr>
            <a:r>
              <a:rPr lang="en-US" sz="317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Accuracy: Mention that your code is optimized for clean, high-speed processing</a:t>
            </a:r>
          </a:p>
          <a:p>
            <a:pPr algn="l">
              <a:lnSpc>
                <a:spcPts val="341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6631" y="3197850"/>
            <a:ext cx="5872998" cy="6448788"/>
            <a:chOff x="0" y="0"/>
            <a:chExt cx="2378860" cy="2612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8860" cy="2612083"/>
            </a:xfrm>
            <a:custGeom>
              <a:avLst/>
              <a:gdLst/>
              <a:ahLst/>
              <a:cxnLst/>
              <a:rect r="r" b="b" t="t" l="l"/>
              <a:pathLst>
                <a:path h="2612083" w="2378860">
                  <a:moveTo>
                    <a:pt x="67229" y="0"/>
                  </a:moveTo>
                  <a:lnTo>
                    <a:pt x="2311630" y="0"/>
                  </a:lnTo>
                  <a:cubicBezTo>
                    <a:pt x="2329461" y="0"/>
                    <a:pt x="2346561" y="7083"/>
                    <a:pt x="2359169" y="19691"/>
                  </a:cubicBezTo>
                  <a:cubicBezTo>
                    <a:pt x="2371777" y="32299"/>
                    <a:pt x="2378860" y="49399"/>
                    <a:pt x="2378860" y="67229"/>
                  </a:cubicBezTo>
                  <a:lnTo>
                    <a:pt x="2378860" y="2544854"/>
                  </a:lnTo>
                  <a:cubicBezTo>
                    <a:pt x="2378860" y="2562684"/>
                    <a:pt x="2371777" y="2579784"/>
                    <a:pt x="2359169" y="2592392"/>
                  </a:cubicBezTo>
                  <a:cubicBezTo>
                    <a:pt x="2346561" y="2605000"/>
                    <a:pt x="2329461" y="2612083"/>
                    <a:pt x="2311630" y="2612083"/>
                  </a:cubicBezTo>
                  <a:lnTo>
                    <a:pt x="67229" y="2612083"/>
                  </a:lnTo>
                  <a:cubicBezTo>
                    <a:pt x="49399" y="2612083"/>
                    <a:pt x="32299" y="2605000"/>
                    <a:pt x="19691" y="2592392"/>
                  </a:cubicBezTo>
                  <a:cubicBezTo>
                    <a:pt x="7083" y="2579784"/>
                    <a:pt x="0" y="2562684"/>
                    <a:pt x="0" y="2544854"/>
                  </a:cubicBezTo>
                  <a:lnTo>
                    <a:pt x="0" y="67229"/>
                  </a:lnTo>
                  <a:cubicBezTo>
                    <a:pt x="0" y="49399"/>
                    <a:pt x="7083" y="32299"/>
                    <a:pt x="19691" y="19691"/>
                  </a:cubicBezTo>
                  <a:cubicBezTo>
                    <a:pt x="32299" y="7083"/>
                    <a:pt x="49399" y="0"/>
                    <a:pt x="67229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78860" cy="264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2135" y="3197850"/>
            <a:ext cx="5784860" cy="6570761"/>
            <a:chOff x="0" y="0"/>
            <a:chExt cx="2343160" cy="26614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3159" cy="2661489"/>
            </a:xfrm>
            <a:custGeom>
              <a:avLst/>
              <a:gdLst/>
              <a:ahLst/>
              <a:cxnLst/>
              <a:rect r="r" b="b" t="t" l="l"/>
              <a:pathLst>
                <a:path h="2661489" w="2343159">
                  <a:moveTo>
                    <a:pt x="68254" y="0"/>
                  </a:moveTo>
                  <a:lnTo>
                    <a:pt x="2274906" y="0"/>
                  </a:lnTo>
                  <a:cubicBezTo>
                    <a:pt x="2312601" y="0"/>
                    <a:pt x="2343159" y="30558"/>
                    <a:pt x="2343159" y="68254"/>
                  </a:cubicBezTo>
                  <a:lnTo>
                    <a:pt x="2343159" y="2593235"/>
                  </a:lnTo>
                  <a:cubicBezTo>
                    <a:pt x="2343159" y="2630930"/>
                    <a:pt x="2312601" y="2661489"/>
                    <a:pt x="2274906" y="2661489"/>
                  </a:cubicBezTo>
                  <a:lnTo>
                    <a:pt x="68254" y="2661489"/>
                  </a:lnTo>
                  <a:cubicBezTo>
                    <a:pt x="30558" y="2661489"/>
                    <a:pt x="0" y="2630930"/>
                    <a:pt x="0" y="2593235"/>
                  </a:cubicBezTo>
                  <a:lnTo>
                    <a:pt x="0" y="68254"/>
                  </a:lnTo>
                  <a:cubicBezTo>
                    <a:pt x="0" y="30558"/>
                    <a:pt x="30558" y="0"/>
                    <a:pt x="68254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343160" cy="2690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071010" y="2238739"/>
            <a:ext cx="3799620" cy="3737444"/>
          </a:xfrm>
          <a:custGeom>
            <a:avLst/>
            <a:gdLst/>
            <a:ahLst/>
            <a:cxnLst/>
            <a:rect r="r" b="b" t="t" l="l"/>
            <a:pathLst>
              <a:path h="3737444" w="3799620">
                <a:moveTo>
                  <a:pt x="0" y="0"/>
                </a:moveTo>
                <a:lnTo>
                  <a:pt x="3799620" y="0"/>
                </a:lnTo>
                <a:lnTo>
                  <a:pt x="3799620" y="3737444"/>
                </a:lnTo>
                <a:lnTo>
                  <a:pt x="0" y="373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04700" y="5758219"/>
            <a:ext cx="4393658" cy="4393658"/>
          </a:xfrm>
          <a:custGeom>
            <a:avLst/>
            <a:gdLst/>
            <a:ahLst/>
            <a:cxnLst/>
            <a:rect r="r" b="b" t="t" l="l"/>
            <a:pathLst>
              <a:path h="4393658" w="4393658">
                <a:moveTo>
                  <a:pt x="0" y="0"/>
                </a:moveTo>
                <a:lnTo>
                  <a:pt x="4393658" y="0"/>
                </a:lnTo>
                <a:lnTo>
                  <a:pt x="4393658" y="4393658"/>
                </a:lnTo>
                <a:lnTo>
                  <a:pt x="0" y="4393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1214" y="1527293"/>
            <a:ext cx="14765572" cy="9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</a:pPr>
            <a:r>
              <a:rPr lang="en-US" b="true" sz="7099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RESEARCH 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21510" y="3608124"/>
            <a:ext cx="5354505" cy="603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592" indent="-284796" lvl="1">
              <a:lnSpc>
                <a:spcPts val="3693"/>
              </a:lnSpc>
              <a:buFont typeface="Arial"/>
              <a:buChar char="•"/>
            </a:pPr>
            <a:r>
              <a:rPr lang="en-US" b="true" sz="2638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Data Acquisition:</a:t>
            </a:r>
            <a:r>
              <a:rPr lang="en-US" sz="2638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Integrated diverse datasets from open-source resume repositories and live industry job boards to map current skill requirements.</a:t>
            </a:r>
          </a:p>
          <a:p>
            <a:pPr algn="l">
              <a:lnSpc>
                <a:spcPts val="3693"/>
              </a:lnSpc>
            </a:pPr>
          </a:p>
          <a:p>
            <a:pPr algn="l" marL="569592" indent="-284796" lvl="1">
              <a:lnSpc>
                <a:spcPts val="3693"/>
              </a:lnSpc>
              <a:buFont typeface="Arial"/>
              <a:buChar char="•"/>
            </a:pPr>
            <a:r>
              <a:rPr lang="en-US" b="true" sz="2638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Systematic Validation:</a:t>
            </a:r>
            <a:r>
              <a:rPr lang="en-US" sz="2638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Conducted rigorous testing against 500+ resumes, ensuring high model accuracy through comparison with expert human evaluations.</a:t>
            </a:r>
          </a:p>
          <a:p>
            <a:pPr algn="l">
              <a:lnSpc>
                <a:spcPts val="369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619740" y="3374412"/>
            <a:ext cx="5289650" cy="61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333" indent="-292666" lvl="1">
              <a:lnSpc>
                <a:spcPts val="3795"/>
              </a:lnSpc>
              <a:buFont typeface="Arial"/>
              <a:buChar char="•"/>
            </a:pPr>
            <a:r>
              <a:rPr lang="en-US" b="true" sz="271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Statistical Analysis:</a:t>
            </a:r>
            <a:r>
              <a:rPr lang="en-US" sz="271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Identified and visualized critical "missing skill" trends across the Education domain to provide data-driven gap insights.</a:t>
            </a:r>
          </a:p>
          <a:p>
            <a:pPr algn="l">
              <a:lnSpc>
                <a:spcPts val="3795"/>
              </a:lnSpc>
            </a:pPr>
          </a:p>
          <a:p>
            <a:pPr algn="l" marL="585333" indent="-292666" lvl="1">
              <a:lnSpc>
                <a:spcPts val="3795"/>
              </a:lnSpc>
              <a:buFont typeface="Arial"/>
              <a:buChar char="•"/>
            </a:pPr>
            <a:r>
              <a:rPr lang="en-US" b="true" sz="271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Justified Framework</a:t>
            </a:r>
            <a:r>
              <a:rPr lang="en-US" sz="271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: Employed a well-structured NLP methodology to move beyond keyword matching into deep semantic professional analysis.</a:t>
            </a:r>
          </a:p>
          <a:p>
            <a:pPr algn="l">
              <a:lnSpc>
                <a:spcPts val="379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93811">
            <a:off x="8635485" y="-485258"/>
            <a:ext cx="11156868" cy="15883501"/>
            <a:chOff x="0" y="0"/>
            <a:chExt cx="2938434" cy="4183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8434" cy="4183309"/>
            </a:xfrm>
            <a:custGeom>
              <a:avLst/>
              <a:gdLst/>
              <a:ahLst/>
              <a:cxnLst/>
              <a:rect r="r" b="b" t="t" l="l"/>
              <a:pathLst>
                <a:path h="4183309" w="2938434">
                  <a:moveTo>
                    <a:pt x="35390" y="0"/>
                  </a:moveTo>
                  <a:lnTo>
                    <a:pt x="2903045" y="0"/>
                  </a:lnTo>
                  <a:cubicBezTo>
                    <a:pt x="2912431" y="0"/>
                    <a:pt x="2921432" y="3729"/>
                    <a:pt x="2928069" y="10365"/>
                  </a:cubicBezTo>
                  <a:cubicBezTo>
                    <a:pt x="2934706" y="17002"/>
                    <a:pt x="2938434" y="26004"/>
                    <a:pt x="2938434" y="35390"/>
                  </a:cubicBezTo>
                  <a:lnTo>
                    <a:pt x="2938434" y="4147919"/>
                  </a:lnTo>
                  <a:cubicBezTo>
                    <a:pt x="2938434" y="4157305"/>
                    <a:pt x="2934706" y="4166307"/>
                    <a:pt x="2928069" y="4172944"/>
                  </a:cubicBezTo>
                  <a:cubicBezTo>
                    <a:pt x="2921432" y="4179581"/>
                    <a:pt x="2912431" y="4183309"/>
                    <a:pt x="2903045" y="4183309"/>
                  </a:cubicBezTo>
                  <a:lnTo>
                    <a:pt x="35390" y="4183309"/>
                  </a:lnTo>
                  <a:cubicBezTo>
                    <a:pt x="26004" y="4183309"/>
                    <a:pt x="17002" y="4179581"/>
                    <a:pt x="10365" y="4172944"/>
                  </a:cubicBezTo>
                  <a:cubicBezTo>
                    <a:pt x="3729" y="4166307"/>
                    <a:pt x="0" y="4157305"/>
                    <a:pt x="0" y="4147919"/>
                  </a:cubicBezTo>
                  <a:lnTo>
                    <a:pt x="0" y="35390"/>
                  </a:lnTo>
                  <a:cubicBezTo>
                    <a:pt x="0" y="26004"/>
                    <a:pt x="3729" y="17002"/>
                    <a:pt x="10365" y="10365"/>
                  </a:cubicBezTo>
                  <a:cubicBezTo>
                    <a:pt x="17002" y="3729"/>
                    <a:pt x="26004" y="0"/>
                    <a:pt x="35390" y="0"/>
                  </a:cubicBezTo>
                  <a:close/>
                </a:path>
              </a:pathLst>
            </a:custGeom>
            <a:solidFill>
              <a:srgbClr val="002566">
                <a:alpha val="1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8434" cy="421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693811">
            <a:off x="8870809" y="-1172444"/>
            <a:ext cx="11156868" cy="15883501"/>
            <a:chOff x="0" y="0"/>
            <a:chExt cx="2938434" cy="41833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8434" cy="4183309"/>
            </a:xfrm>
            <a:custGeom>
              <a:avLst/>
              <a:gdLst/>
              <a:ahLst/>
              <a:cxnLst/>
              <a:rect r="r" b="b" t="t" l="l"/>
              <a:pathLst>
                <a:path h="4183309" w="2938434">
                  <a:moveTo>
                    <a:pt x="35390" y="0"/>
                  </a:moveTo>
                  <a:lnTo>
                    <a:pt x="2903045" y="0"/>
                  </a:lnTo>
                  <a:cubicBezTo>
                    <a:pt x="2912431" y="0"/>
                    <a:pt x="2921432" y="3729"/>
                    <a:pt x="2928069" y="10365"/>
                  </a:cubicBezTo>
                  <a:cubicBezTo>
                    <a:pt x="2934706" y="17002"/>
                    <a:pt x="2938434" y="26004"/>
                    <a:pt x="2938434" y="35390"/>
                  </a:cubicBezTo>
                  <a:lnTo>
                    <a:pt x="2938434" y="4147919"/>
                  </a:lnTo>
                  <a:cubicBezTo>
                    <a:pt x="2938434" y="4157305"/>
                    <a:pt x="2934706" y="4166307"/>
                    <a:pt x="2928069" y="4172944"/>
                  </a:cubicBezTo>
                  <a:cubicBezTo>
                    <a:pt x="2921432" y="4179581"/>
                    <a:pt x="2912431" y="4183309"/>
                    <a:pt x="2903045" y="4183309"/>
                  </a:cubicBezTo>
                  <a:lnTo>
                    <a:pt x="35390" y="4183309"/>
                  </a:lnTo>
                  <a:cubicBezTo>
                    <a:pt x="26004" y="4183309"/>
                    <a:pt x="17002" y="4179581"/>
                    <a:pt x="10365" y="4172944"/>
                  </a:cubicBezTo>
                  <a:cubicBezTo>
                    <a:pt x="3729" y="4166307"/>
                    <a:pt x="0" y="4157305"/>
                    <a:pt x="0" y="4147919"/>
                  </a:cubicBezTo>
                  <a:lnTo>
                    <a:pt x="0" y="35390"/>
                  </a:lnTo>
                  <a:cubicBezTo>
                    <a:pt x="0" y="26004"/>
                    <a:pt x="3729" y="17002"/>
                    <a:pt x="10365" y="10365"/>
                  </a:cubicBezTo>
                  <a:cubicBezTo>
                    <a:pt x="17002" y="3729"/>
                    <a:pt x="26004" y="0"/>
                    <a:pt x="35390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938434" cy="421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08932" y="1190113"/>
            <a:ext cx="9050368" cy="760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9068" indent="-394534" lvl="1">
              <a:lnSpc>
                <a:spcPts val="5116"/>
              </a:lnSpc>
              <a:buFont typeface="Arial"/>
              <a:buChar char="•"/>
            </a:pPr>
            <a:r>
              <a:rPr lang="en-US" sz="3654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Practical Use: Can be integrated into University Career Centers or LinkedIn-style platforms.</a:t>
            </a:r>
          </a:p>
          <a:p>
            <a:pPr algn="just">
              <a:lnSpc>
                <a:spcPts val="5116"/>
              </a:lnSpc>
            </a:pPr>
          </a:p>
          <a:p>
            <a:pPr algn="just" marL="789068" indent="-394534" lvl="1">
              <a:lnSpc>
                <a:spcPts val="5116"/>
              </a:lnSpc>
              <a:buFont typeface="Arial"/>
              <a:buChar char="•"/>
            </a:pPr>
            <a:r>
              <a:rPr lang="en-US" sz="3654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Scalability: Cloud-ready architecture that can handle thousands of resumes simultaneously.</a:t>
            </a:r>
          </a:p>
          <a:p>
            <a:pPr algn="just">
              <a:lnSpc>
                <a:spcPts val="5116"/>
              </a:lnSpc>
            </a:pPr>
          </a:p>
          <a:p>
            <a:pPr algn="just" marL="789068" indent="-394534" lvl="1">
              <a:lnSpc>
                <a:spcPts val="5116"/>
              </a:lnSpc>
              <a:buFont typeface="Arial"/>
              <a:buChar char="•"/>
            </a:pPr>
            <a:r>
              <a:rPr lang="en-US" sz="3654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Market Impact: High real-world impact by reducing the time-to-hire for companies.</a:t>
            </a:r>
          </a:p>
          <a:p>
            <a:pPr algn="just">
              <a:lnSpc>
                <a:spcPts val="511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497663" y="7890188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322" y="-490025"/>
            <a:ext cx="2401536" cy="1833900"/>
          </a:xfrm>
          <a:custGeom>
            <a:avLst/>
            <a:gdLst/>
            <a:ahLst/>
            <a:cxnLst/>
            <a:rect r="r" b="b" t="t" l="l"/>
            <a:pathLst>
              <a:path h="1833900" w="2401536">
                <a:moveTo>
                  <a:pt x="0" y="0"/>
                </a:moveTo>
                <a:lnTo>
                  <a:pt x="2401536" y="0"/>
                </a:lnTo>
                <a:lnTo>
                  <a:pt x="2401536" y="1833900"/>
                </a:lnTo>
                <a:lnTo>
                  <a:pt x="0" y="1833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8222" y="1877757"/>
            <a:ext cx="5184226" cy="314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4"/>
              </a:lnSpc>
            </a:pPr>
            <a:r>
              <a:rPr lang="en-US" sz="8300" b="true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Feasibility</a:t>
            </a:r>
          </a:p>
          <a:p>
            <a:pPr algn="l">
              <a:lnSpc>
                <a:spcPts val="8134"/>
              </a:lnSpc>
            </a:pPr>
            <a:r>
              <a:rPr lang="en-US" sz="8300" b="true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      &amp; </a:t>
            </a:r>
          </a:p>
          <a:p>
            <a:pPr algn="l">
              <a:lnSpc>
                <a:spcPts val="8134"/>
              </a:lnSpc>
            </a:pPr>
            <a:r>
              <a:rPr lang="en-US" sz="8300" b="true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Scalability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77048" y="-312239"/>
            <a:ext cx="8649698" cy="9917754"/>
            <a:chOff x="0" y="0"/>
            <a:chExt cx="2278110" cy="2612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8110" cy="2612083"/>
            </a:xfrm>
            <a:custGeom>
              <a:avLst/>
              <a:gdLst/>
              <a:ahLst/>
              <a:cxnLst/>
              <a:rect r="r" b="b" t="t" l="l"/>
              <a:pathLst>
                <a:path h="2612083" w="2278110">
                  <a:moveTo>
                    <a:pt x="45648" y="0"/>
                  </a:moveTo>
                  <a:lnTo>
                    <a:pt x="2232462" y="0"/>
                  </a:lnTo>
                  <a:cubicBezTo>
                    <a:pt x="2257673" y="0"/>
                    <a:pt x="2278110" y="20437"/>
                    <a:pt x="2278110" y="45648"/>
                  </a:cubicBezTo>
                  <a:lnTo>
                    <a:pt x="2278110" y="2566436"/>
                  </a:lnTo>
                  <a:cubicBezTo>
                    <a:pt x="2278110" y="2578542"/>
                    <a:pt x="2273301" y="2590153"/>
                    <a:pt x="2264740" y="2598713"/>
                  </a:cubicBezTo>
                  <a:cubicBezTo>
                    <a:pt x="2256179" y="2607274"/>
                    <a:pt x="2244569" y="2612083"/>
                    <a:pt x="2232462" y="2612083"/>
                  </a:cubicBezTo>
                  <a:lnTo>
                    <a:pt x="45648" y="2612083"/>
                  </a:lnTo>
                  <a:cubicBezTo>
                    <a:pt x="33541" y="2612083"/>
                    <a:pt x="21930" y="2607274"/>
                    <a:pt x="13370" y="2598713"/>
                  </a:cubicBezTo>
                  <a:cubicBezTo>
                    <a:pt x="4809" y="2590153"/>
                    <a:pt x="0" y="2578542"/>
                    <a:pt x="0" y="2566436"/>
                  </a:cubicBezTo>
                  <a:lnTo>
                    <a:pt x="0" y="45648"/>
                  </a:lnTo>
                  <a:cubicBezTo>
                    <a:pt x="0" y="33541"/>
                    <a:pt x="4809" y="21930"/>
                    <a:pt x="13370" y="13370"/>
                  </a:cubicBezTo>
                  <a:cubicBezTo>
                    <a:pt x="21930" y="4809"/>
                    <a:pt x="33541" y="0"/>
                    <a:pt x="45648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78110" cy="264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37112" y="485322"/>
            <a:ext cx="7329571" cy="156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8"/>
              </a:lnSpc>
            </a:pPr>
            <a:r>
              <a:rPr lang="en-US" b="true" sz="558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ETHICS, SECURITY &amp; SUSTAINABILITY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803376"/>
            <a:ext cx="8115300" cy="633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4307" indent="-447154" lvl="1">
              <a:lnSpc>
                <a:spcPts val="4556"/>
              </a:lnSpc>
              <a:buFont typeface="Arial"/>
              <a:buChar char="•"/>
            </a:pPr>
            <a:r>
              <a:rPr lang="en-US" sz="4142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Ensures resume data privacy.</a:t>
            </a:r>
          </a:p>
          <a:p>
            <a:pPr algn="l">
              <a:lnSpc>
                <a:spcPts val="4556"/>
              </a:lnSpc>
            </a:pPr>
          </a:p>
          <a:p>
            <a:pPr algn="l" marL="894307" indent="-447154" lvl="1">
              <a:lnSpc>
                <a:spcPts val="4556"/>
              </a:lnSpc>
              <a:buFont typeface="Arial"/>
              <a:buChar char="•"/>
            </a:pPr>
            <a:r>
              <a:rPr lang="en-US" sz="4142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No permanent storage of personal data.</a:t>
            </a:r>
          </a:p>
          <a:p>
            <a:pPr algn="l">
              <a:lnSpc>
                <a:spcPts val="4556"/>
              </a:lnSpc>
            </a:pPr>
          </a:p>
          <a:p>
            <a:pPr algn="l" marL="894307" indent="-447154" lvl="1">
              <a:lnSpc>
                <a:spcPts val="4556"/>
              </a:lnSpc>
              <a:buFont typeface="Arial"/>
              <a:buChar char="•"/>
            </a:pPr>
            <a:r>
              <a:rPr lang="en-US" sz="4142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Helps reduce bias in skill evaluation.</a:t>
            </a:r>
          </a:p>
          <a:p>
            <a:pPr algn="l">
              <a:lnSpc>
                <a:spcPts val="4556"/>
              </a:lnSpc>
            </a:pPr>
          </a:p>
          <a:p>
            <a:pPr algn="l" marL="894307" indent="-447154" lvl="1">
              <a:lnSpc>
                <a:spcPts val="4556"/>
              </a:lnSpc>
              <a:buFont typeface="Arial"/>
              <a:buChar char="•"/>
            </a:pPr>
            <a:r>
              <a:rPr lang="en-US" sz="4142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Promotes sustainable learning through targeted upskilling.</a:t>
            </a:r>
          </a:p>
          <a:p>
            <a:pPr algn="l">
              <a:lnSpc>
                <a:spcPts val="4556"/>
              </a:lnSpc>
            </a:pP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3573" y="1641809"/>
            <a:ext cx="9312035" cy="86227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93811">
            <a:off x="-4773722" y="-318627"/>
            <a:ext cx="7048777" cy="8982563"/>
            <a:chOff x="0" y="0"/>
            <a:chExt cx="1856468" cy="236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6468" cy="2365778"/>
            </a:xfrm>
            <a:custGeom>
              <a:avLst/>
              <a:gdLst/>
              <a:ahLst/>
              <a:cxnLst/>
              <a:rect r="r" b="b" t="t" l="l"/>
              <a:pathLst>
                <a:path h="2365778" w="1856468">
                  <a:moveTo>
                    <a:pt x="56015" y="0"/>
                  </a:moveTo>
                  <a:lnTo>
                    <a:pt x="1800453" y="0"/>
                  </a:lnTo>
                  <a:cubicBezTo>
                    <a:pt x="1815309" y="0"/>
                    <a:pt x="1829557" y="5902"/>
                    <a:pt x="1840062" y="16406"/>
                  </a:cubicBezTo>
                  <a:cubicBezTo>
                    <a:pt x="1850566" y="26911"/>
                    <a:pt x="1856468" y="41159"/>
                    <a:pt x="1856468" y="56015"/>
                  </a:cubicBezTo>
                  <a:lnTo>
                    <a:pt x="1856468" y="2309763"/>
                  </a:lnTo>
                  <a:cubicBezTo>
                    <a:pt x="1856468" y="2340699"/>
                    <a:pt x="1831389" y="2365778"/>
                    <a:pt x="1800453" y="2365778"/>
                  </a:cubicBezTo>
                  <a:lnTo>
                    <a:pt x="56015" y="2365778"/>
                  </a:lnTo>
                  <a:cubicBezTo>
                    <a:pt x="41159" y="2365778"/>
                    <a:pt x="26911" y="2359876"/>
                    <a:pt x="16406" y="2349372"/>
                  </a:cubicBezTo>
                  <a:cubicBezTo>
                    <a:pt x="5902" y="2338867"/>
                    <a:pt x="0" y="2324619"/>
                    <a:pt x="0" y="2309763"/>
                  </a:cubicBezTo>
                  <a:lnTo>
                    <a:pt x="0" y="56015"/>
                  </a:lnTo>
                  <a:cubicBezTo>
                    <a:pt x="0" y="41159"/>
                    <a:pt x="5902" y="26911"/>
                    <a:pt x="16406" y="16406"/>
                  </a:cubicBezTo>
                  <a:cubicBezTo>
                    <a:pt x="26911" y="5902"/>
                    <a:pt x="41159" y="0"/>
                    <a:pt x="56015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56468" cy="2394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693811">
            <a:off x="5022536" y="-1797506"/>
            <a:ext cx="13306602" cy="15883501"/>
            <a:chOff x="0" y="0"/>
            <a:chExt cx="3504619" cy="41833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04619" cy="4183309"/>
            </a:xfrm>
            <a:custGeom>
              <a:avLst/>
              <a:gdLst/>
              <a:ahLst/>
              <a:cxnLst/>
              <a:rect r="r" b="b" t="t" l="l"/>
              <a:pathLst>
                <a:path h="4183309" w="3504619">
                  <a:moveTo>
                    <a:pt x="29672" y="0"/>
                  </a:moveTo>
                  <a:lnTo>
                    <a:pt x="3474947" y="0"/>
                  </a:lnTo>
                  <a:cubicBezTo>
                    <a:pt x="3482817" y="0"/>
                    <a:pt x="3490364" y="3126"/>
                    <a:pt x="3495928" y="8691"/>
                  </a:cubicBezTo>
                  <a:cubicBezTo>
                    <a:pt x="3501493" y="14255"/>
                    <a:pt x="3504619" y="21803"/>
                    <a:pt x="3504619" y="29672"/>
                  </a:cubicBezTo>
                  <a:lnTo>
                    <a:pt x="3504619" y="4153637"/>
                  </a:lnTo>
                  <a:cubicBezTo>
                    <a:pt x="3504619" y="4170024"/>
                    <a:pt x="3491335" y="4183309"/>
                    <a:pt x="3474947" y="4183309"/>
                  </a:cubicBezTo>
                  <a:lnTo>
                    <a:pt x="29672" y="4183309"/>
                  </a:lnTo>
                  <a:cubicBezTo>
                    <a:pt x="21803" y="4183309"/>
                    <a:pt x="14255" y="4180183"/>
                    <a:pt x="8691" y="4174618"/>
                  </a:cubicBezTo>
                  <a:cubicBezTo>
                    <a:pt x="3126" y="4169054"/>
                    <a:pt x="0" y="4161506"/>
                    <a:pt x="0" y="4153637"/>
                  </a:cubicBezTo>
                  <a:lnTo>
                    <a:pt x="0" y="29672"/>
                  </a:lnTo>
                  <a:cubicBezTo>
                    <a:pt x="0" y="21803"/>
                    <a:pt x="3126" y="14255"/>
                    <a:pt x="8691" y="8691"/>
                  </a:cubicBezTo>
                  <a:cubicBezTo>
                    <a:pt x="14255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002566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504619" cy="421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693811">
            <a:off x="5365561" y="-2467286"/>
            <a:ext cx="13306602" cy="15883501"/>
            <a:chOff x="0" y="0"/>
            <a:chExt cx="3504619" cy="4183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04619" cy="4183309"/>
            </a:xfrm>
            <a:custGeom>
              <a:avLst/>
              <a:gdLst/>
              <a:ahLst/>
              <a:cxnLst/>
              <a:rect r="r" b="b" t="t" l="l"/>
              <a:pathLst>
                <a:path h="4183309" w="3504619">
                  <a:moveTo>
                    <a:pt x="29672" y="0"/>
                  </a:moveTo>
                  <a:lnTo>
                    <a:pt x="3474947" y="0"/>
                  </a:lnTo>
                  <a:cubicBezTo>
                    <a:pt x="3482817" y="0"/>
                    <a:pt x="3490364" y="3126"/>
                    <a:pt x="3495928" y="8691"/>
                  </a:cubicBezTo>
                  <a:cubicBezTo>
                    <a:pt x="3501493" y="14255"/>
                    <a:pt x="3504619" y="21803"/>
                    <a:pt x="3504619" y="29672"/>
                  </a:cubicBezTo>
                  <a:lnTo>
                    <a:pt x="3504619" y="4153637"/>
                  </a:lnTo>
                  <a:cubicBezTo>
                    <a:pt x="3504619" y="4170024"/>
                    <a:pt x="3491335" y="4183309"/>
                    <a:pt x="3474947" y="4183309"/>
                  </a:cubicBezTo>
                  <a:lnTo>
                    <a:pt x="29672" y="4183309"/>
                  </a:lnTo>
                  <a:cubicBezTo>
                    <a:pt x="21803" y="4183309"/>
                    <a:pt x="14255" y="4180183"/>
                    <a:pt x="8691" y="4174618"/>
                  </a:cubicBezTo>
                  <a:cubicBezTo>
                    <a:pt x="3126" y="4169054"/>
                    <a:pt x="0" y="4161506"/>
                    <a:pt x="0" y="4153637"/>
                  </a:cubicBezTo>
                  <a:lnTo>
                    <a:pt x="0" y="29672"/>
                  </a:lnTo>
                  <a:cubicBezTo>
                    <a:pt x="0" y="21803"/>
                    <a:pt x="3126" y="14255"/>
                    <a:pt x="8691" y="8691"/>
                  </a:cubicBezTo>
                  <a:cubicBezTo>
                    <a:pt x="14255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504619" cy="421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42401" y="377947"/>
            <a:ext cx="9666871" cy="329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5"/>
              </a:lnSpc>
            </a:pPr>
            <a:r>
              <a:rPr lang="en-US" sz="7904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FUTURE ROADMAP </a:t>
            </a:r>
          </a:p>
          <a:p>
            <a:pPr algn="l">
              <a:lnSpc>
                <a:spcPts val="8695"/>
              </a:lnSpc>
            </a:pPr>
            <a:r>
              <a:rPr lang="en-US" sz="7904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               &amp; </a:t>
            </a:r>
          </a:p>
          <a:p>
            <a:pPr algn="l">
              <a:lnSpc>
                <a:spcPts val="8695"/>
              </a:lnSpc>
            </a:pPr>
            <a:r>
              <a:rPr lang="en-US" b="true" sz="7904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        BONUSES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96500" y="4315630"/>
            <a:ext cx="11244725" cy="499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176" indent="-369088" lvl="1">
              <a:lnSpc>
                <a:spcPts val="3760"/>
              </a:lnSpc>
              <a:buFont typeface="Arial"/>
              <a:buChar char="•"/>
            </a:pPr>
            <a:r>
              <a:rPr lang="en-US" b="true" sz="341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Publication: </a:t>
            </a:r>
            <a:r>
              <a:rPr lang="en-US" sz="341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Potential for a research paper on "Automated Skill Gap Mapping".</a:t>
            </a:r>
          </a:p>
          <a:p>
            <a:pPr algn="l">
              <a:lnSpc>
                <a:spcPts val="3760"/>
              </a:lnSpc>
            </a:pPr>
          </a:p>
          <a:p>
            <a:pPr algn="l" marL="738176" indent="-369088" lvl="1">
              <a:lnSpc>
                <a:spcPts val="3760"/>
              </a:lnSpc>
              <a:buFont typeface="Arial"/>
              <a:buChar char="•"/>
            </a:pPr>
            <a:r>
              <a:rPr lang="en-US" b="true" sz="341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Societal Impact: </a:t>
            </a:r>
            <a:r>
              <a:rPr lang="en-US" sz="341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Directly contributes to the "Decent Work and Economic Growth" Sustainable Development Goal.</a:t>
            </a:r>
          </a:p>
          <a:p>
            <a:pPr algn="l">
              <a:lnSpc>
                <a:spcPts val="5489"/>
              </a:lnSpc>
            </a:pPr>
          </a:p>
          <a:p>
            <a:pPr algn="l" marL="738176" indent="-369088" lvl="1">
              <a:lnSpc>
                <a:spcPts val="3760"/>
              </a:lnSpc>
              <a:buFont typeface="Arial"/>
              <a:buChar char="•"/>
            </a:pPr>
            <a:r>
              <a:rPr lang="en-US" b="true" sz="341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Patent Potential:</a:t>
            </a:r>
            <a:r>
              <a:rPr lang="en-US" sz="341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Unique algorithm for personalized learning path generation.</a:t>
            </a:r>
          </a:p>
          <a:p>
            <a:pPr algn="l">
              <a:lnSpc>
                <a:spcPts val="37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4364" y="3492749"/>
            <a:ext cx="20296751" cy="7027964"/>
            <a:chOff x="0" y="0"/>
            <a:chExt cx="5345646" cy="1850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45647" cy="1850986"/>
            </a:xfrm>
            <a:custGeom>
              <a:avLst/>
              <a:gdLst/>
              <a:ahLst/>
              <a:cxnLst/>
              <a:rect r="r" b="b" t="t" l="l"/>
              <a:pathLst>
                <a:path h="1850986" w="5345647">
                  <a:moveTo>
                    <a:pt x="19453" y="0"/>
                  </a:moveTo>
                  <a:lnTo>
                    <a:pt x="5326193" y="0"/>
                  </a:lnTo>
                  <a:cubicBezTo>
                    <a:pt x="5336937" y="0"/>
                    <a:pt x="5345647" y="8710"/>
                    <a:pt x="5345647" y="19453"/>
                  </a:cubicBezTo>
                  <a:lnTo>
                    <a:pt x="5345647" y="1831533"/>
                  </a:lnTo>
                  <a:cubicBezTo>
                    <a:pt x="5345647" y="1836693"/>
                    <a:pt x="5343597" y="1841640"/>
                    <a:pt x="5339949" y="1845289"/>
                  </a:cubicBezTo>
                  <a:cubicBezTo>
                    <a:pt x="5336301" y="1848937"/>
                    <a:pt x="5331352" y="1850986"/>
                    <a:pt x="5326193" y="1850986"/>
                  </a:cubicBezTo>
                  <a:lnTo>
                    <a:pt x="19453" y="1850986"/>
                  </a:lnTo>
                  <a:cubicBezTo>
                    <a:pt x="14294" y="1850986"/>
                    <a:pt x="9346" y="1848937"/>
                    <a:pt x="5698" y="1845289"/>
                  </a:cubicBezTo>
                  <a:cubicBezTo>
                    <a:pt x="2050" y="1841640"/>
                    <a:pt x="0" y="1836693"/>
                    <a:pt x="0" y="1831533"/>
                  </a:cubicBezTo>
                  <a:lnTo>
                    <a:pt x="0" y="19453"/>
                  </a:lnTo>
                  <a:cubicBezTo>
                    <a:pt x="0" y="14294"/>
                    <a:pt x="2050" y="9346"/>
                    <a:pt x="5698" y="5698"/>
                  </a:cubicBezTo>
                  <a:cubicBezTo>
                    <a:pt x="9346" y="2050"/>
                    <a:pt x="14294" y="0"/>
                    <a:pt x="19453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345646" cy="187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828235">
            <a:off x="1680126" y="483801"/>
            <a:ext cx="2341557" cy="2341557"/>
          </a:xfrm>
          <a:custGeom>
            <a:avLst/>
            <a:gdLst/>
            <a:ahLst/>
            <a:cxnLst/>
            <a:rect r="r" b="b" t="t" l="l"/>
            <a:pathLst>
              <a:path h="2341557" w="2341557">
                <a:moveTo>
                  <a:pt x="0" y="0"/>
                </a:moveTo>
                <a:lnTo>
                  <a:pt x="2341557" y="0"/>
                </a:lnTo>
                <a:lnTo>
                  <a:pt x="2341557" y="2341557"/>
                </a:lnTo>
                <a:lnTo>
                  <a:pt x="0" y="2341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1628" y="3832512"/>
            <a:ext cx="16230600" cy="576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Demo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Resume upload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Skill extraction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Gap analysis output</a:t>
            </a:r>
          </a:p>
          <a:p>
            <a:pPr algn="just">
              <a:lnSpc>
                <a:spcPts val="5319"/>
              </a:lnSpc>
            </a:pP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</a:t>
            </a:r>
            <a:r>
              <a:rPr lang="en-US" sz="3799" b="true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onclusion</a:t>
            </a: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Luminex provides an intelligent and practical solution to identify skill gaps, enabling learners to make informed education and training decisions.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153233" y="1219200"/>
            <a:ext cx="12860943" cy="117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b="true" sz="8999">
                <a:solidFill>
                  <a:srgbClr val="002566"/>
                </a:solidFill>
                <a:latin typeface="Sarabun Bold"/>
                <a:ea typeface="Sarabun Bold"/>
                <a:cs typeface="Sarabun Bold"/>
                <a:sym typeface="Sarabun Bold"/>
              </a:rPr>
              <a:t>Demo &amp; Conclusion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828235">
            <a:off x="16610636" y="8609636"/>
            <a:ext cx="1297328" cy="1297328"/>
          </a:xfrm>
          <a:custGeom>
            <a:avLst/>
            <a:gdLst/>
            <a:ahLst/>
            <a:cxnLst/>
            <a:rect r="r" b="b" t="t" l="l"/>
            <a:pathLst>
              <a:path h="1297328" w="1297328">
                <a:moveTo>
                  <a:pt x="0" y="0"/>
                </a:moveTo>
                <a:lnTo>
                  <a:pt x="1297328" y="0"/>
                </a:lnTo>
                <a:lnTo>
                  <a:pt x="1297328" y="1297328"/>
                </a:lnTo>
                <a:lnTo>
                  <a:pt x="0" y="129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B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3950793" y="-2108440"/>
            <a:ext cx="8275470" cy="9757183"/>
            <a:chOff x="0" y="0"/>
            <a:chExt cx="2179548" cy="25697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9548" cy="2569793"/>
            </a:xfrm>
            <a:custGeom>
              <a:avLst/>
              <a:gdLst/>
              <a:ahLst/>
              <a:cxnLst/>
              <a:rect r="r" b="b" t="t" l="l"/>
              <a:pathLst>
                <a:path h="2569793" w="2179548">
                  <a:moveTo>
                    <a:pt x="47712" y="0"/>
                  </a:moveTo>
                  <a:lnTo>
                    <a:pt x="2131836" y="0"/>
                  </a:lnTo>
                  <a:cubicBezTo>
                    <a:pt x="2144490" y="0"/>
                    <a:pt x="2156625" y="5027"/>
                    <a:pt x="2165573" y="13974"/>
                  </a:cubicBezTo>
                  <a:cubicBezTo>
                    <a:pt x="2174521" y="22922"/>
                    <a:pt x="2179548" y="35058"/>
                    <a:pt x="2179548" y="47712"/>
                  </a:cubicBezTo>
                  <a:lnTo>
                    <a:pt x="2179548" y="2522081"/>
                  </a:lnTo>
                  <a:cubicBezTo>
                    <a:pt x="2179548" y="2534735"/>
                    <a:pt x="2174521" y="2546871"/>
                    <a:pt x="2165573" y="2555819"/>
                  </a:cubicBezTo>
                  <a:cubicBezTo>
                    <a:pt x="2156625" y="2564766"/>
                    <a:pt x="2144490" y="2569793"/>
                    <a:pt x="2131836" y="2569793"/>
                  </a:cubicBezTo>
                  <a:lnTo>
                    <a:pt x="47712" y="2569793"/>
                  </a:lnTo>
                  <a:cubicBezTo>
                    <a:pt x="35058" y="2569793"/>
                    <a:pt x="22922" y="2564766"/>
                    <a:pt x="13974" y="2555819"/>
                  </a:cubicBezTo>
                  <a:cubicBezTo>
                    <a:pt x="5027" y="2546871"/>
                    <a:pt x="0" y="2534735"/>
                    <a:pt x="0" y="2522081"/>
                  </a:cubicBezTo>
                  <a:lnTo>
                    <a:pt x="0" y="47712"/>
                  </a:lnTo>
                  <a:cubicBezTo>
                    <a:pt x="0" y="35058"/>
                    <a:pt x="5027" y="22922"/>
                    <a:pt x="13974" y="13974"/>
                  </a:cubicBezTo>
                  <a:cubicBezTo>
                    <a:pt x="22922" y="5027"/>
                    <a:pt x="35058" y="0"/>
                    <a:pt x="47712" y="0"/>
                  </a:cubicBezTo>
                  <a:close/>
                </a:path>
              </a:pathLst>
            </a:custGeom>
            <a:solidFill>
              <a:srgbClr val="002566">
                <a:alpha val="2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9548" cy="259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6083269" y="-2937058"/>
            <a:ext cx="10629179" cy="13177170"/>
            <a:chOff x="0" y="0"/>
            <a:chExt cx="2799455" cy="3470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9455" cy="3470530"/>
            </a:xfrm>
            <a:custGeom>
              <a:avLst/>
              <a:gdLst/>
              <a:ahLst/>
              <a:cxnLst/>
              <a:rect r="r" b="b" t="t" l="l"/>
              <a:pathLst>
                <a:path h="3470530" w="2799455">
                  <a:moveTo>
                    <a:pt x="37147" y="0"/>
                  </a:moveTo>
                  <a:lnTo>
                    <a:pt x="2762308" y="0"/>
                  </a:lnTo>
                  <a:cubicBezTo>
                    <a:pt x="2782824" y="0"/>
                    <a:pt x="2799455" y="16631"/>
                    <a:pt x="2799455" y="37147"/>
                  </a:cubicBezTo>
                  <a:lnTo>
                    <a:pt x="2799455" y="3433384"/>
                  </a:lnTo>
                  <a:cubicBezTo>
                    <a:pt x="2799455" y="3443236"/>
                    <a:pt x="2795541" y="3452684"/>
                    <a:pt x="2788575" y="3459650"/>
                  </a:cubicBezTo>
                  <a:cubicBezTo>
                    <a:pt x="2781608" y="3466617"/>
                    <a:pt x="2772160" y="3470530"/>
                    <a:pt x="2762308" y="3470530"/>
                  </a:cubicBezTo>
                  <a:lnTo>
                    <a:pt x="37147" y="3470530"/>
                  </a:lnTo>
                  <a:cubicBezTo>
                    <a:pt x="27295" y="3470530"/>
                    <a:pt x="17846" y="3466617"/>
                    <a:pt x="10880" y="3459650"/>
                  </a:cubicBezTo>
                  <a:cubicBezTo>
                    <a:pt x="3914" y="3452684"/>
                    <a:pt x="0" y="3443236"/>
                    <a:pt x="0" y="3433384"/>
                  </a:cubicBezTo>
                  <a:lnTo>
                    <a:pt x="0" y="37147"/>
                  </a:lnTo>
                  <a:cubicBezTo>
                    <a:pt x="0" y="27295"/>
                    <a:pt x="3914" y="17846"/>
                    <a:pt x="10880" y="10880"/>
                  </a:cubicBezTo>
                  <a:cubicBezTo>
                    <a:pt x="17846" y="3914"/>
                    <a:pt x="27295" y="0"/>
                    <a:pt x="37147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99455" cy="349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-6742410" y="1726526"/>
            <a:ext cx="10629179" cy="11637912"/>
            <a:chOff x="0" y="0"/>
            <a:chExt cx="2799455" cy="30651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9455" cy="3065129"/>
            </a:xfrm>
            <a:custGeom>
              <a:avLst/>
              <a:gdLst/>
              <a:ahLst/>
              <a:cxnLst/>
              <a:rect r="r" b="b" t="t" l="l"/>
              <a:pathLst>
                <a:path h="3065129" w="2799455">
                  <a:moveTo>
                    <a:pt x="37147" y="0"/>
                  </a:moveTo>
                  <a:lnTo>
                    <a:pt x="2762308" y="0"/>
                  </a:lnTo>
                  <a:cubicBezTo>
                    <a:pt x="2782824" y="0"/>
                    <a:pt x="2799455" y="16631"/>
                    <a:pt x="2799455" y="37147"/>
                  </a:cubicBezTo>
                  <a:lnTo>
                    <a:pt x="2799455" y="3027983"/>
                  </a:lnTo>
                  <a:cubicBezTo>
                    <a:pt x="2799455" y="3037835"/>
                    <a:pt x="2795541" y="3047283"/>
                    <a:pt x="2788575" y="3054249"/>
                  </a:cubicBezTo>
                  <a:cubicBezTo>
                    <a:pt x="2781608" y="3061215"/>
                    <a:pt x="2772160" y="3065129"/>
                    <a:pt x="2762308" y="3065129"/>
                  </a:cubicBezTo>
                  <a:lnTo>
                    <a:pt x="37147" y="3065129"/>
                  </a:lnTo>
                  <a:cubicBezTo>
                    <a:pt x="27295" y="3065129"/>
                    <a:pt x="17846" y="3061215"/>
                    <a:pt x="10880" y="3054249"/>
                  </a:cubicBezTo>
                  <a:cubicBezTo>
                    <a:pt x="3914" y="3047283"/>
                    <a:pt x="0" y="3037835"/>
                    <a:pt x="0" y="3027983"/>
                  </a:cubicBezTo>
                  <a:lnTo>
                    <a:pt x="0" y="37147"/>
                  </a:lnTo>
                  <a:cubicBezTo>
                    <a:pt x="0" y="27295"/>
                    <a:pt x="3914" y="17846"/>
                    <a:pt x="10880" y="10880"/>
                  </a:cubicBezTo>
                  <a:cubicBezTo>
                    <a:pt x="17846" y="3914"/>
                    <a:pt x="27295" y="0"/>
                    <a:pt x="37147" y="0"/>
                  </a:cubicBezTo>
                  <a:close/>
                </a:path>
              </a:pathLst>
            </a:custGeom>
            <a:solidFill>
              <a:srgbClr val="0025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799455" cy="309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43864" y="2149752"/>
            <a:ext cx="10620170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500"/>
              </a:lnSpc>
            </a:pPr>
            <a:r>
              <a:rPr lang="en-US" b="true" sz="1250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THANK </a:t>
            </a:r>
          </a:p>
          <a:p>
            <a:pPr algn="r">
              <a:lnSpc>
                <a:spcPts val="12500"/>
              </a:lnSpc>
            </a:pPr>
            <a:r>
              <a:rPr lang="en-US" b="true" sz="1250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YOU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657925" y="7208596"/>
            <a:ext cx="39507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088528" y="5885299"/>
            <a:ext cx="6375506" cy="1079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DAG8iZJUx50</dc:identifier>
  <dcterms:modified xsi:type="dcterms:W3CDTF">2011-08-01T06:04:30Z</dcterms:modified>
  <cp:revision>1</cp:revision>
  <dc:title>Navy and White Modern Group Project Presentation</dc:title>
</cp:coreProperties>
</file>